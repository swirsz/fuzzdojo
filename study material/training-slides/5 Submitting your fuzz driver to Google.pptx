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4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6858000" cy="9144000"/>
  <p:embeddedFontLst>
    <p:embeddedFont>
      <p:font typeface="Oswald" panose="020B0604020202020204" charset="0"/>
      <p:regular r:id="rId10"/>
      <p:bold r:id="rId11"/>
    </p:embeddedFont>
    <p:embeddedFont>
      <p:font typeface="Roboto" panose="020B0604020202020204" charset="0"/>
      <p:regular r:id="rId12"/>
      <p:bold r:id="rId13"/>
      <p:italic r:id="rId14"/>
      <p:boldItalic r:id="rId15"/>
    </p:embeddedFont>
    <p:embeddedFont>
      <p:font typeface="Consolas" panose="020B0609020204030204" pitchFamily="49" charset="0"/>
      <p:regular r:id="rId16"/>
      <p:bold r:id="rId17"/>
      <p:italic r:id="rId18"/>
      <p:boldItalic r:id="rId19"/>
    </p:embeddedFont>
    <p:embeddedFont>
      <p:font typeface="Roboto Light" panose="020B0604020202020204" charset="0"/>
      <p:regular r:id="rId2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58" y="35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12.fntdata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23" Type="http://schemas.openxmlformats.org/officeDocument/2006/relationships/font" Target="fonts/font14.fntdata"/><Relationship Id="rId10" Type="http://schemas.openxmlformats.org/officeDocument/2006/relationships/font" Target="fonts/font1.fntdata"/><Relationship Id="rId19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Relationship Id="rId22" Type="http://schemas.openxmlformats.org/officeDocument/2006/relationships/font" Target="fonts/font13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94231888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88f71ddc4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88f71ddc4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611539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9455f8a69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9455f8a696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955148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4ce90e77fb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4ce90e77fb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498898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4ce90e77fb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4ce90e77fb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232391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4ce90e77fb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4ce90e77fb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681674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4ce90e77fb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4ce90e77fb_0_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397140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4ce90e77fb_0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4ce90e77fb_0_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802814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685800" y="1583342"/>
            <a:ext cx="77724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685800" y="2840053"/>
            <a:ext cx="7772400" cy="7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rtl="0"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" name="Google Shape;17;p3"/>
          <p:cNvSpPr txBox="1"/>
          <p:nvPr/>
        </p:nvSpPr>
        <p:spPr>
          <a:xfrm>
            <a:off x="243676" y="534950"/>
            <a:ext cx="286800" cy="42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#</a:t>
            </a:r>
            <a:endParaRPr b="1">
              <a:solidFill>
                <a:srgbClr val="99999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39945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body" idx="2"/>
          </p:nvPr>
        </p:nvSpPr>
        <p:spPr>
          <a:xfrm>
            <a:off x="4692274" y="1200150"/>
            <a:ext cx="39945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ldNum" idx="12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" name="Google Shape;23;p4"/>
          <p:cNvSpPr txBox="1"/>
          <p:nvPr/>
        </p:nvSpPr>
        <p:spPr>
          <a:xfrm>
            <a:off x="243676" y="534950"/>
            <a:ext cx="286800" cy="42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#</a:t>
            </a:r>
            <a:endParaRPr b="1">
              <a:solidFill>
                <a:srgbClr val="99999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lumns">
  <p:cSld name="TITLE_AND_TWO_COLUMNS_1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>
            <a:spLocks noGrp="1"/>
          </p:cNvSpPr>
          <p:nvPr>
            <p:ph type="body" idx="1"/>
          </p:nvPr>
        </p:nvSpPr>
        <p:spPr>
          <a:xfrm>
            <a:off x="457200" y="241575"/>
            <a:ext cx="3994500" cy="468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body" idx="2"/>
          </p:nvPr>
        </p:nvSpPr>
        <p:spPr>
          <a:xfrm>
            <a:off x="4692275" y="241575"/>
            <a:ext cx="3994500" cy="468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sldNum" idx="12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Columns">
  <p:cSld name="TITLE_AND_TWO_COLUMNS_1_1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>
            <a:spLocks noGrp="1"/>
          </p:cNvSpPr>
          <p:nvPr>
            <p:ph type="body" idx="1"/>
          </p:nvPr>
        </p:nvSpPr>
        <p:spPr>
          <a:xfrm>
            <a:off x="250875" y="241575"/>
            <a:ext cx="2829300" cy="468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0" name="Google Shape;30;p6"/>
          <p:cNvSpPr txBox="1">
            <a:spLocks noGrp="1"/>
          </p:cNvSpPr>
          <p:nvPr>
            <p:ph type="body" idx="2"/>
          </p:nvPr>
        </p:nvSpPr>
        <p:spPr>
          <a:xfrm>
            <a:off x="6063675" y="241575"/>
            <a:ext cx="2829300" cy="468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sldNum" idx="12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body" idx="3"/>
          </p:nvPr>
        </p:nvSpPr>
        <p:spPr>
          <a:xfrm>
            <a:off x="3157350" y="241575"/>
            <a:ext cx="2829300" cy="468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sldNum" idx="12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6" name="Google Shape;36;p7"/>
          <p:cNvSpPr txBox="1"/>
          <p:nvPr/>
        </p:nvSpPr>
        <p:spPr>
          <a:xfrm>
            <a:off x="243676" y="534950"/>
            <a:ext cx="286800" cy="42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#</a:t>
            </a:r>
            <a:endParaRPr b="1">
              <a:solidFill>
                <a:srgbClr val="99999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 txBox="1">
            <a:spLocks noGrp="1"/>
          </p:cNvSpPr>
          <p:nvPr>
            <p:ph type="body" idx="1"/>
          </p:nvPr>
        </p:nvSpPr>
        <p:spPr>
          <a:xfrm>
            <a:off x="457200" y="4406309"/>
            <a:ext cx="8229600" cy="51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28600" algn="ctr" rtl="0">
              <a:spcBef>
                <a:spcPts val="360"/>
              </a:spcBef>
              <a:spcAft>
                <a:spcPts val="0"/>
              </a:spcAft>
              <a:buSzPts val="1800"/>
              <a:buNone/>
              <a:defRPr sz="1800"/>
            </a:lvl1pPr>
          </a:lstStyle>
          <a:p>
            <a:endParaRPr/>
          </a:p>
        </p:txBody>
      </p:sp>
      <p:sp>
        <p:nvSpPr>
          <p:cNvPr id="39" name="Google Shape;39;p8"/>
          <p:cNvSpPr txBox="1">
            <a:spLocks noGrp="1"/>
          </p:cNvSpPr>
          <p:nvPr>
            <p:ph type="sldNum" idx="12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9"/>
          <p:cNvSpPr txBox="1">
            <a:spLocks noGrp="1"/>
          </p:cNvSpPr>
          <p:nvPr>
            <p:ph type="sldNum" idx="12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ody Only">
  <p:cSld name="TITLE_AND_BODY_1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0"/>
          <p:cNvSpPr txBox="1">
            <a:spLocks noGrp="1"/>
          </p:cNvSpPr>
          <p:nvPr>
            <p:ph type="body" idx="1"/>
          </p:nvPr>
        </p:nvSpPr>
        <p:spPr>
          <a:xfrm>
            <a:off x="457200" y="233438"/>
            <a:ext cx="8229600" cy="467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4" name="Google Shape;44;p10"/>
          <p:cNvSpPr txBox="1">
            <a:spLocks noGrp="1"/>
          </p:cNvSpPr>
          <p:nvPr>
            <p:ph type="sldNum" idx="12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entered Subtitle">
  <p:cSld name="TITLE_ONLY_1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>
            <a:spLocks noGrp="1"/>
          </p:cNvSpPr>
          <p:nvPr>
            <p:ph type="sldNum" idx="12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ubTitle" idx="1"/>
          </p:nvPr>
        </p:nvSpPr>
        <p:spPr>
          <a:xfrm>
            <a:off x="685800" y="2179341"/>
            <a:ext cx="7772400" cy="7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swald"/>
              <a:buNone/>
              <a:defRPr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entered Title" type="secHead">
  <p:cSld name="SECTION_HEADER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ancy Section Title">
  <p:cSld name="CUSTOM">
    <p:bg>
      <p:bgPr>
        <a:solidFill>
          <a:srgbClr val="351C75"/>
        </a:solidFill>
        <a:effectLst/>
      </p:bgPr>
    </p:bg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 txBox="1">
            <a:spLocks noGrp="1"/>
          </p:cNvSpPr>
          <p:nvPr>
            <p:ph type="title"/>
          </p:nvPr>
        </p:nvSpPr>
        <p:spPr>
          <a:xfrm>
            <a:off x="219700" y="2287400"/>
            <a:ext cx="6523800" cy="56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rgbClr val="FFFF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rgbClr val="FFFF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rgbClr val="FFFF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rgbClr val="FFFF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rgbClr val="FFFF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rgbClr val="FFFF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rgbClr val="FFFF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title" idx="2"/>
          </p:nvPr>
        </p:nvSpPr>
        <p:spPr>
          <a:xfrm>
            <a:off x="219700" y="499975"/>
            <a:ext cx="6523800" cy="178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B7B7B7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B7B7B7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B7B7B7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B7B7B7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B7B7B7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B7B7B7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B7B7B7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B7B7B7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B7B7B7"/>
                </a:solidFill>
              </a:defRPr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title" idx="3"/>
          </p:nvPr>
        </p:nvSpPr>
        <p:spPr>
          <a:xfrm>
            <a:off x="219700" y="2856225"/>
            <a:ext cx="6523800" cy="17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B7B7B7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B7B7B7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B7B7B7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B7B7B7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B7B7B7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B7B7B7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B7B7B7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B7B7B7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B7B7B7"/>
                </a:solidFill>
              </a:defRPr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Ideas">
  <p:cSld name="CUSTOM_1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>
            <a:spLocks noGrp="1"/>
          </p:cNvSpPr>
          <p:nvPr>
            <p:ph type="title"/>
          </p:nvPr>
        </p:nvSpPr>
        <p:spPr>
          <a:xfrm>
            <a:off x="537475" y="868313"/>
            <a:ext cx="8069100" cy="137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title" idx="2"/>
          </p:nvPr>
        </p:nvSpPr>
        <p:spPr>
          <a:xfrm>
            <a:off x="537475" y="3055688"/>
            <a:ext cx="8069100" cy="137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Ideas">
  <p:cSld name="CUSTOM_1_2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>
            <a:spLocks noGrp="1"/>
          </p:cNvSpPr>
          <p:nvPr>
            <p:ph type="title"/>
          </p:nvPr>
        </p:nvSpPr>
        <p:spPr>
          <a:xfrm>
            <a:off x="537475" y="618338"/>
            <a:ext cx="8069100" cy="137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62" name="Google Shape;62;p15"/>
          <p:cNvSpPr txBox="1">
            <a:spLocks noGrp="1"/>
          </p:cNvSpPr>
          <p:nvPr>
            <p:ph type="title" idx="2"/>
          </p:nvPr>
        </p:nvSpPr>
        <p:spPr>
          <a:xfrm>
            <a:off x="537475" y="3349413"/>
            <a:ext cx="8069100" cy="137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63" name="Google Shape;63;p1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title" idx="3"/>
          </p:nvPr>
        </p:nvSpPr>
        <p:spPr>
          <a:xfrm>
            <a:off x="537475" y="1983875"/>
            <a:ext cx="8069100" cy="137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entral Idea">
  <p:cSld name="CUSTOM_1_1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6"/>
          <p:cNvSpPr txBox="1">
            <a:spLocks noGrp="1"/>
          </p:cNvSpPr>
          <p:nvPr>
            <p:ph type="title"/>
          </p:nvPr>
        </p:nvSpPr>
        <p:spPr>
          <a:xfrm>
            <a:off x="537475" y="868313"/>
            <a:ext cx="8069100" cy="137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67" name="Google Shape;67;p1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lendar">
  <p:cSld name="CUSTOM_3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9" name="Google Shape;69;p17"/>
          <p:cNvCxnSpPr/>
          <p:nvPr/>
        </p:nvCxnSpPr>
        <p:spPr>
          <a:xfrm>
            <a:off x="3048000" y="0"/>
            <a:ext cx="0" cy="51426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70" name="Google Shape;70;p17"/>
          <p:cNvCxnSpPr/>
          <p:nvPr/>
        </p:nvCxnSpPr>
        <p:spPr>
          <a:xfrm>
            <a:off x="6096000" y="0"/>
            <a:ext cx="0" cy="51426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71" name="Google Shape;71;p17"/>
          <p:cNvCxnSpPr/>
          <p:nvPr/>
        </p:nvCxnSpPr>
        <p:spPr>
          <a:xfrm>
            <a:off x="0" y="1285875"/>
            <a:ext cx="91458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72" name="Google Shape;72;p17"/>
          <p:cNvCxnSpPr/>
          <p:nvPr/>
        </p:nvCxnSpPr>
        <p:spPr>
          <a:xfrm>
            <a:off x="0" y="3857625"/>
            <a:ext cx="91458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73" name="Google Shape;73;p17"/>
          <p:cNvCxnSpPr/>
          <p:nvPr/>
        </p:nvCxnSpPr>
        <p:spPr>
          <a:xfrm>
            <a:off x="0" y="2571750"/>
            <a:ext cx="91440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74" name="Google Shape;74;p17"/>
          <p:cNvSpPr txBox="1"/>
          <p:nvPr/>
        </p:nvSpPr>
        <p:spPr>
          <a:xfrm>
            <a:off x="1751400" y="0"/>
            <a:ext cx="1296600" cy="43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swald"/>
                <a:ea typeface="Oswald"/>
                <a:cs typeface="Oswald"/>
                <a:sym typeface="Oswald"/>
              </a:rPr>
              <a:t>January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75" name="Google Shape;75;p17"/>
          <p:cNvSpPr txBox="1"/>
          <p:nvPr/>
        </p:nvSpPr>
        <p:spPr>
          <a:xfrm>
            <a:off x="4799400" y="0"/>
            <a:ext cx="1296600" cy="43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swald"/>
                <a:ea typeface="Oswald"/>
                <a:cs typeface="Oswald"/>
                <a:sym typeface="Oswald"/>
              </a:rPr>
              <a:t>February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76" name="Google Shape;76;p17"/>
          <p:cNvSpPr txBox="1"/>
          <p:nvPr/>
        </p:nvSpPr>
        <p:spPr>
          <a:xfrm>
            <a:off x="7849200" y="0"/>
            <a:ext cx="1296600" cy="43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swald"/>
                <a:ea typeface="Oswald"/>
                <a:cs typeface="Oswald"/>
                <a:sym typeface="Oswald"/>
              </a:rPr>
              <a:t>March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77" name="Google Shape;77;p17"/>
          <p:cNvSpPr txBox="1"/>
          <p:nvPr/>
        </p:nvSpPr>
        <p:spPr>
          <a:xfrm>
            <a:off x="1751400" y="1285875"/>
            <a:ext cx="1296600" cy="43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swald"/>
                <a:ea typeface="Oswald"/>
                <a:cs typeface="Oswald"/>
                <a:sym typeface="Oswald"/>
              </a:rPr>
              <a:t>April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78" name="Google Shape;78;p17"/>
          <p:cNvSpPr txBox="1"/>
          <p:nvPr/>
        </p:nvSpPr>
        <p:spPr>
          <a:xfrm>
            <a:off x="4799400" y="1285875"/>
            <a:ext cx="1296600" cy="43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swald"/>
                <a:ea typeface="Oswald"/>
                <a:cs typeface="Oswald"/>
                <a:sym typeface="Oswald"/>
              </a:rPr>
              <a:t>May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79" name="Google Shape;79;p17"/>
          <p:cNvSpPr txBox="1"/>
          <p:nvPr/>
        </p:nvSpPr>
        <p:spPr>
          <a:xfrm>
            <a:off x="7849200" y="1285875"/>
            <a:ext cx="1296600" cy="43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swald"/>
                <a:ea typeface="Oswald"/>
                <a:cs typeface="Oswald"/>
                <a:sym typeface="Oswald"/>
              </a:rPr>
              <a:t>June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80" name="Google Shape;80;p17"/>
          <p:cNvSpPr txBox="1"/>
          <p:nvPr/>
        </p:nvSpPr>
        <p:spPr>
          <a:xfrm>
            <a:off x="1751400" y="2571750"/>
            <a:ext cx="1296600" cy="43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swald"/>
                <a:ea typeface="Oswald"/>
                <a:cs typeface="Oswald"/>
                <a:sym typeface="Oswald"/>
              </a:rPr>
              <a:t>July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81" name="Google Shape;81;p17"/>
          <p:cNvSpPr txBox="1"/>
          <p:nvPr/>
        </p:nvSpPr>
        <p:spPr>
          <a:xfrm>
            <a:off x="4799400" y="2571750"/>
            <a:ext cx="1296600" cy="43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swald"/>
                <a:ea typeface="Oswald"/>
                <a:cs typeface="Oswald"/>
                <a:sym typeface="Oswald"/>
              </a:rPr>
              <a:t>August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82" name="Google Shape;82;p17"/>
          <p:cNvSpPr txBox="1"/>
          <p:nvPr/>
        </p:nvSpPr>
        <p:spPr>
          <a:xfrm>
            <a:off x="7849200" y="2571750"/>
            <a:ext cx="1296600" cy="43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swald"/>
                <a:ea typeface="Oswald"/>
                <a:cs typeface="Oswald"/>
                <a:sym typeface="Oswald"/>
              </a:rPr>
              <a:t>September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83" name="Google Shape;83;p17"/>
          <p:cNvSpPr txBox="1"/>
          <p:nvPr/>
        </p:nvSpPr>
        <p:spPr>
          <a:xfrm>
            <a:off x="1751400" y="3857625"/>
            <a:ext cx="1296600" cy="43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swald"/>
                <a:ea typeface="Oswald"/>
                <a:cs typeface="Oswald"/>
                <a:sym typeface="Oswald"/>
              </a:rPr>
              <a:t>October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84" name="Google Shape;84;p17"/>
          <p:cNvSpPr txBox="1"/>
          <p:nvPr/>
        </p:nvSpPr>
        <p:spPr>
          <a:xfrm>
            <a:off x="4799400" y="3857625"/>
            <a:ext cx="1296600" cy="43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swald"/>
                <a:ea typeface="Oswald"/>
                <a:cs typeface="Oswald"/>
                <a:sym typeface="Oswald"/>
              </a:rPr>
              <a:t>November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85" name="Google Shape;85;p17"/>
          <p:cNvSpPr txBox="1"/>
          <p:nvPr/>
        </p:nvSpPr>
        <p:spPr>
          <a:xfrm>
            <a:off x="7849200" y="3857625"/>
            <a:ext cx="1296600" cy="43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swald"/>
                <a:ea typeface="Oswald"/>
                <a:cs typeface="Oswald"/>
                <a:sym typeface="Oswald"/>
              </a:rPr>
              <a:t>December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Light"/>
              <a:buChar char="●"/>
              <a:defRPr sz="18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Light"/>
              <a:buChar char="○"/>
              <a:defRPr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Light"/>
              <a:buChar char="■"/>
              <a:defRPr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Light"/>
              <a:buChar char="●"/>
              <a:defRPr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Light"/>
              <a:buChar char="○"/>
              <a:defRPr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Light"/>
              <a:buChar char="■"/>
              <a:defRPr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Light"/>
              <a:buChar char="●"/>
              <a:defRPr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Light"/>
              <a:buChar char="○"/>
              <a:defRPr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Light"/>
              <a:buChar char="■"/>
              <a:defRPr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 rtl="0">
              <a:buNone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 rtl="0">
              <a:buNone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 rtl="0">
              <a:buNone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 rtl="0">
              <a:buNone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 rtl="0">
              <a:buNone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 rtl="0">
              <a:buNone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 rtl="0">
              <a:buNone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 rtl="0">
              <a:buNone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bughunters.google.com/about/rules/open-source/5097259337383936/oss-fuzz-reward-program-rules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bughunters.google.com/report/oss_fuzz" TargetMode="External"/><Relationship Id="rId4" Type="http://schemas.openxmlformats.org/officeDocument/2006/relationships/hyperlink" Target="https://google.github.io/fuzzbench/getting-started/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google/oss-fuzz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ocs.github.com/en/get-started/exploring-projects-on-github/contributing-to-a-project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google.github.io/fuzzbench/getting-started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ossf/fuzz-introspector/blob/main/doc/CaseStudies.md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bughunters.google.com/report/oss_fuzz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 txBox="1">
            <a:spLocks noGrp="1"/>
          </p:cNvSpPr>
          <p:nvPr>
            <p:ph type="ctrTitle"/>
          </p:nvPr>
        </p:nvSpPr>
        <p:spPr>
          <a:xfrm>
            <a:off x="685800" y="1141203"/>
            <a:ext cx="7772400" cy="160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Next Steps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Google Submission</a:t>
            </a:r>
            <a:endParaRPr/>
          </a:p>
        </p:txBody>
      </p:sp>
      <p:sp>
        <p:nvSpPr>
          <p:cNvPr id="91" name="Google Shape;91;p18"/>
          <p:cNvSpPr txBox="1">
            <a:spLocks noGrp="1"/>
          </p:cNvSpPr>
          <p:nvPr>
            <p:ph type="subTitle" idx="1"/>
          </p:nvPr>
        </p:nvSpPr>
        <p:spPr>
          <a:xfrm>
            <a:off x="685800" y="2840053"/>
            <a:ext cx="7772400" cy="7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OSS-Fuzz Rewards Program</a:t>
            </a:r>
            <a:endParaRPr i="1"/>
          </a:p>
        </p:txBody>
      </p:sp>
      <p:sp>
        <p:nvSpPr>
          <p:cNvPr id="97" name="Google Shape;97;p19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Google pays rewards for OSS-Fuzz improvements.  The program and requirements have changed several times, but are described here: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700" u="sng">
                <a:solidFill>
                  <a:schemeClr val="hlink"/>
                </a:solidFill>
                <a:hlinkClick r:id="rId3"/>
              </a:rPr>
              <a:t>https://bughunters.google.com/about/rules/open-source/5097259337383936/oss-fuzz-reward-program-rules</a:t>
            </a:r>
            <a:r>
              <a:rPr lang="en" sz="1700"/>
              <a:t> </a:t>
            </a:r>
            <a:endParaRPr sz="170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We will be looking at FuzzBench fuzzer integrations which rewards up to $11,337</a:t>
            </a:r>
            <a:endParaRPr/>
          </a:p>
          <a:p>
            <a:pPr marL="457200" lvl="0" indent="-342900" algn="l" rtl="0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Create fuzz driver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Verify coverage with all sanitizers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Integrate with </a:t>
            </a:r>
            <a:r>
              <a:rPr lang="en" u="sng">
                <a:solidFill>
                  <a:schemeClr val="hlink"/>
                </a:solidFill>
                <a:hlinkClick r:id="rId4"/>
              </a:rPr>
              <a:t>Fuzzbench</a:t>
            </a:r>
            <a:r>
              <a:rPr lang="en"/>
              <a:t>, install and locally run this evaluation platform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Send a </a:t>
            </a:r>
            <a:r>
              <a:rPr lang="en" u="sng">
                <a:solidFill>
                  <a:schemeClr val="hlink"/>
                </a:solidFill>
                <a:hlinkClick r:id="rId5"/>
              </a:rPr>
              <a:t>submission to Google</a:t>
            </a:r>
            <a:r>
              <a:rPr lang="en"/>
              <a:t> with: “Links to commits/PRs showing the integration, experiment reports, a paper describing the techniques used in the fuzzer.”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Fuzz driver cleanup</a:t>
            </a:r>
            <a:endParaRPr i="1"/>
          </a:p>
        </p:txBody>
      </p:sp>
      <p:sp>
        <p:nvSpPr>
          <p:cNvPr id="103" name="Google Shape;103;p20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Refactor your code!   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Do everything to enhance its readability, maintainability, and simplicity.  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Search for best practices if you need more examples.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Have a third-party review your code for readability.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Add a license agreement 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Test your code under all project-supported sanitizers - see project.yaml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1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Submit a PR</a:t>
            </a:r>
            <a:endParaRPr i="1"/>
          </a:p>
        </p:txBody>
      </p:sp>
      <p:sp>
        <p:nvSpPr>
          <p:cNvPr id="109" name="Google Shape;109;p21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89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should be either to the project repository or to the oss-fuzz repository, depending on where the existing fuzz drivers are currently located.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OSS-Fuzz repository: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https://github.com/google/oss-fuzz</a:t>
            </a:r>
            <a:r>
              <a:rPr lang="en"/>
              <a:t> 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More details for GitHub: </a:t>
            </a:r>
            <a:r>
              <a:rPr lang="en" u="sng">
                <a:solidFill>
                  <a:schemeClr val="hlink"/>
                </a:solidFill>
                <a:hlinkClick r:id="rId4"/>
              </a:rPr>
              <a:t>https://docs.github.com/en/get-started/exploring-projects-on-github/contributing-to-a-project</a:t>
            </a:r>
            <a:r>
              <a:rPr lang="en"/>
              <a:t> 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2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Integrate with Fuzzbench</a:t>
            </a:r>
            <a:endParaRPr i="1"/>
          </a:p>
        </p:txBody>
      </p:sp>
      <p:sp>
        <p:nvSpPr>
          <p:cNvPr id="115" name="Google Shape;115;p22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Your fuzz driver must be evaluated and benchmarked by FuzzBench.   This can be run locally and tested before you submitted to Google.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Details here: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https://google.github.io/fuzzbench/getting-started/</a:t>
            </a:r>
            <a:r>
              <a:rPr lang="en"/>
              <a:t>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/>
            </a:r>
            <a:br>
              <a:rPr lang="en">
                <a:latin typeface="Consolas"/>
                <a:ea typeface="Consolas"/>
                <a:cs typeface="Consolas"/>
                <a:sym typeface="Consolas"/>
              </a:rPr>
            </a:br>
            <a:endParaRPr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3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Write a Short Paper</a:t>
            </a:r>
            <a:endParaRPr i="1"/>
          </a:p>
        </p:txBody>
      </p:sp>
      <p:sp>
        <p:nvSpPr>
          <p:cNvPr id="121" name="Google Shape;121;p23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See case studies: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/>
            </a:r>
            <a:br>
              <a:rPr lang="en">
                <a:latin typeface="Consolas"/>
                <a:ea typeface="Consolas"/>
                <a:cs typeface="Consolas"/>
                <a:sym typeface="Consolas"/>
              </a:rPr>
            </a:b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3"/>
              </a:rPr>
              <a:t>https://github.com/ossf/fuzz-introspector/blob/main/doc/CaseStudies.md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4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Submission</a:t>
            </a:r>
            <a:endParaRPr i="1"/>
          </a:p>
        </p:txBody>
      </p:sp>
      <p:sp>
        <p:nvSpPr>
          <p:cNvPr id="127" name="Google Shape;127;p24"/>
          <p:cNvSpPr txBox="1">
            <a:spLocks noGrp="1"/>
          </p:cNvSpPr>
          <p:nvPr>
            <p:ph type="body" idx="1"/>
          </p:nvPr>
        </p:nvSpPr>
        <p:spPr>
          <a:xfrm>
            <a:off x="457200" y="1155175"/>
            <a:ext cx="8229600" cy="398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this submission link: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https://bughunters.google.com/report/oss_fuzz</a:t>
            </a:r>
            <a:r>
              <a:rPr lang="en"/>
              <a:t> 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Required details:</a:t>
            </a:r>
            <a:endParaRPr/>
          </a:p>
          <a:p>
            <a:pPr marL="457200" lvl="0" indent="-342900" algn="l" rtl="0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Paper describing fuzzing techniques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Link to PR for FuzzBench integration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Link to experiment report (output from fuzz bench)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“Brief description of novel techniques used by your fuzzer”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lideashvili 2019.12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272</Words>
  <Application>Microsoft Office PowerPoint</Application>
  <PresentationFormat>On-screen Show (16:9)</PresentationFormat>
  <Paragraphs>38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Oswald</vt:lpstr>
      <vt:lpstr>Roboto</vt:lpstr>
      <vt:lpstr>Consolas</vt:lpstr>
      <vt:lpstr>Arial</vt:lpstr>
      <vt:lpstr>Roboto Light</vt:lpstr>
      <vt:lpstr>Slideashvili 2019.12</vt:lpstr>
      <vt:lpstr>The Next Steps Google Submission</vt:lpstr>
      <vt:lpstr>OSS-Fuzz Rewards Program</vt:lpstr>
      <vt:lpstr>Fuzz driver cleanup</vt:lpstr>
      <vt:lpstr>Submit a PR</vt:lpstr>
      <vt:lpstr>Integrate with Fuzzbench</vt:lpstr>
      <vt:lpstr>Write a Short Paper</vt:lpstr>
      <vt:lpstr>Submission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Next Steps Google Submission</dc:title>
  <cp:lastModifiedBy>Microsoft account</cp:lastModifiedBy>
  <cp:revision>1</cp:revision>
  <dcterms:modified xsi:type="dcterms:W3CDTF">2026-05-07T04:32:43Z</dcterms:modified>
</cp:coreProperties>
</file>