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Roboto Light" panose="020B0604020202020204" charset="0"/>
      <p:regular r:id="rId9"/>
      <p:bold r:id="rId10"/>
      <p:italic r:id="rId11"/>
      <p:boldItalic r:id="rId12"/>
    </p:embeddedFont>
    <p:embeddedFont>
      <p:font typeface="Roboto" panose="020B0604020202020204" charset="0"/>
      <p:regular r:id="rId13"/>
      <p:bold r:id="rId14"/>
      <p:italic r:id="rId15"/>
      <p:boldItalic r:id="rId16"/>
    </p:embeddedFont>
    <p:embeddedFont>
      <p:font typeface="Oswald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8" y="3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83434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214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ce90e77f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ce90e77f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032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140243f3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140243f3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671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140243f3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140243f3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160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140243f3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140243f3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054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140243f3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140243f3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652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ITLE_AND_TWO_COLUMNS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AND_TWO_COLUMNS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3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TITLE_AND_BODY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Subtitle">
  <p:cSld name="TITLE_ONLY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ncy Section Title">
  <p:cSld name="CUSTOM">
    <p:bg>
      <p:bgPr>
        <a:solidFill>
          <a:srgbClr val="351C75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deas">
  <p:cSld name="CUSTOM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 idx="2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deas">
  <p:cSld name="CUSTOM_1_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 idx="2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 idx="3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ral Idea">
  <p:cSld name="CUSTOM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endar">
  <p:cSld name="CUSTOM_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cJSON Case Study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Final Version</a:t>
            </a:r>
            <a:endParaRPr i="1">
              <a:solidFill>
                <a:schemeClr val="lt2"/>
              </a:solidFill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&lt;stdint.h&gt;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&lt;string.h&gt;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&lt;vector&gt;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&lt;fuzzer/FuzzedDataProvider.h&gt;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#ifdef</a:t>
            </a:r>
            <a:r>
              <a:rPr lang="en" sz="1000">
                <a:solidFill>
                  <a:schemeClr val="lt1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__cplusplus</a:t>
            </a:r>
            <a:endParaRPr sz="1000">
              <a:solidFill>
                <a:schemeClr val="lt1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extern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"C"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#endif</a:t>
            </a:r>
            <a:endParaRPr sz="10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"../cJSON.h"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LLVMFuzzerTestOneInput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uint8_t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lang="en" sz="1000" i="1">
                <a:solidFill>
                  <a:srgbClr val="FD971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size_t </a:t>
            </a:r>
            <a:r>
              <a:rPr lang="en" sz="1000" i="1">
                <a:solidFill>
                  <a:srgbClr val="FD971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FuzzedDataProvider fuzz(</a:t>
            </a:r>
            <a:r>
              <a:rPr lang="en" sz="1000" i="1">
                <a:solidFill>
                  <a:srgbClr val="FD971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i="1">
                <a:solidFill>
                  <a:srgbClr val="FD971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fuzzstr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string_storage(arr_size);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&lt;const char*&gt;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string_array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&lt;double&gt;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double_array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&lt;float&gt;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float_array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&lt;int&gt;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457200" y="107025"/>
            <a:ext cx="8229600" cy="49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arr_size; i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int_array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fuzz.ConsumeIntegral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&lt;int&gt;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float_array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fuzz.ConsumeFloatingPoint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&lt;float&gt;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double_array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fuzz.ConsumeFloatingPoint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&lt;double&gt;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string_storage[i]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string_array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string_storage[i].c_str();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Create arrays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doublearray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cJSON_CreateDoubleArray(double_array.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(), 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floatarray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cJSON_CreateFloatArray(float_array.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(), 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intarray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cJSON_CreateIntArray(int_array.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(), 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stringarray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cJSON_CreateStringArray(string_array.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(), 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a_json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cJSON_ParseWithOpts(fuzzstr.c_str(), NULL,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b_json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cJSON_ParseWithOpts(fuzzstr.c_str(), NULL,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Create object for duplication test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object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nullptr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(a_json)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object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cJSON_Duplicate(a_json, fuzz.ConsumeBool());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null checks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(a_json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&amp;&amp;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cJSON_IsObject(a_json))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key1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key2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key3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key4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val1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val2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457200" y="107025"/>
            <a:ext cx="8229600" cy="49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cJSON_AddNumberToObject(a_json, key1.c_str(), fuzz.ConsumeFloatingPoint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&lt;double&gt;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Create a separate object to avoid double-free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(b_json)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b_copy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cJSON_Duplicate(b_json,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(b_copy)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cJSON_AddItemToObject(a_json, key2.c_str(), b_copy);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cJSON_AddRawToObject(a_json, key3.c_str(), val1.c_str());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cJSON_AddStringToObject(a_json, key4.c_str(), val2.c_str());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cJSON_AddArrayToObject(a_json,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cJSON_AddObjectToObject(a_json,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cJSON_AddBoolToObject(a_json, fuzz.ConsumeRandomLengthString().c_str(), fuzz.ConsumeBool());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cJSON_AddFalseToObject(a_json,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cJSON_AddTrueToObject(a_json,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cJSON_AddNullToObject(a_json,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(a_json)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cJSON_IsInvalid(a_json);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cJSON_IsFalse(a_json);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cJSON_IsTrue(a_json);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cJSON_IsBool(a_json);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cJSON_IsNull(a_json);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cJSON_IsNumber(a_json);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cJSON_IsString(a_json);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cJSON_IsArray(a_json);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cJSON_IsObject(a_json);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cJSON_IsRaw(a_json);</a:t>
            </a: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457200" y="107025"/>
            <a:ext cx="8229600" cy="49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std::string lookup_key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cJSON_GetObjectItem(a_json, lookup_key.c_str());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std::string new_valuestring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cJSON_SetValuestring(a_json, new_valuestring.c_str());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(a_json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&amp;&amp;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b_json)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cJSON_Compare(a_json, b_json, fuzz.ConsumeBool());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Test all arrays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arrays[]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{doublearray, floatarray, intarray, stringarray};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 i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(arrays[i])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array_size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cJSON_GetArraySize(arrays[i]);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(array_size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index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fuzz.ConsumeIntegralInRange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&lt;int&gt;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array_size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cJSON_GetArrayItem(arrays[i], index);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Parse test (store result for cleanup)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 parse_test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parsed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cJSON_Parse(parse_test.c_str());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>
            <a:off x="457200" y="107025"/>
            <a:ext cx="8229600" cy="49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cleanup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cJSON_Delete(doublearray);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cJSON_Delete(floatarray);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cJSON_Delete(intarray);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cJSON_Delete(stringarray);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cJSON_Delete(b_json);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cJSON_Delete(object);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cJSON_Delete(parsed);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#ifdef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__cplusplus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#endif</a:t>
            </a:r>
            <a:endParaRPr sz="10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9E880D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On-screen Show (16:9)</PresentationFormat>
  <Paragraphs>130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Roboto Light</vt:lpstr>
      <vt:lpstr>Roboto</vt:lpstr>
      <vt:lpstr>Arial</vt:lpstr>
      <vt:lpstr>Oswald</vt:lpstr>
      <vt:lpstr>Courier New</vt:lpstr>
      <vt:lpstr>Slideashvili 2019.12</vt:lpstr>
      <vt:lpstr>cJSON Case Study</vt:lpstr>
      <vt:lpstr>Final Version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cJSON Case Study</dc:title>
  <cp:lastModifiedBy>Microsoft account</cp:lastModifiedBy>
  <cp:revision>1</cp:revision>
  <dcterms:modified xsi:type="dcterms:W3CDTF">2026-05-07T04:30:26Z</dcterms:modified>
</cp:coreProperties>
</file>