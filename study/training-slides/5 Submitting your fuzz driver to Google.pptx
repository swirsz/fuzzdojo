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Roboto Light"/>
      <p:regular r:id="rId17"/>
      <p:bold r:id="rId18"/>
      <p:italic r:id="rId19"/>
      <p:boldItalic r:id="rId20"/>
    </p:embeddedFont>
    <p:embeddedFont>
      <p:font typeface="Oswald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Light-boldItalic.fntdata"/><Relationship Id="rId11" Type="http://schemas.openxmlformats.org/officeDocument/2006/relationships/slide" Target="slides/slide6.xml"/><Relationship Id="rId22" Type="http://schemas.openxmlformats.org/officeDocument/2006/relationships/font" Target="fonts/Oswald-bold.fntdata"/><Relationship Id="rId10" Type="http://schemas.openxmlformats.org/officeDocument/2006/relationships/slide" Target="slides/slide5.xml"/><Relationship Id="rId21" Type="http://schemas.openxmlformats.org/officeDocument/2006/relationships/font" Target="fonts/Oswald-regular.fntdata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RobotoLight-regular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Light-italic.fntdata"/><Relationship Id="rId6" Type="http://schemas.openxmlformats.org/officeDocument/2006/relationships/slide" Target="slides/slide1.xml"/><Relationship Id="rId18" Type="http://schemas.openxmlformats.org/officeDocument/2006/relationships/font" Target="fonts/RobotoLigh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88f71ddc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88f71ddc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9455f8a6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9455f8a6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ce90e77f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ce90e77f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ce90e77f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ce90e77f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ce90e77f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ce90e77f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ce90e77f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ce90e77f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ce90e77fb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ce90e77f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243676" y="534950"/>
            <a:ext cx="2868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endParaRPr b="1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/>
        </p:nvSpPr>
        <p:spPr>
          <a:xfrm>
            <a:off x="243676" y="534950"/>
            <a:ext cx="2868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endParaRPr b="1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TITLE_AND_TWO_COLUMNS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57200" y="241575"/>
            <a:ext cx="3994500" cy="46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692275" y="241575"/>
            <a:ext cx="3994500" cy="46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TITLE_AND_TWO_COLUMNS_1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idx="1" type="body"/>
          </p:nvPr>
        </p:nvSpPr>
        <p:spPr>
          <a:xfrm>
            <a:off x="250875" y="241575"/>
            <a:ext cx="2829300" cy="46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2" type="body"/>
          </p:nvPr>
        </p:nvSpPr>
        <p:spPr>
          <a:xfrm>
            <a:off x="6063675" y="241575"/>
            <a:ext cx="2829300" cy="46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6"/>
          <p:cNvSpPr txBox="1"/>
          <p:nvPr>
            <p:ph idx="3" type="body"/>
          </p:nvPr>
        </p:nvSpPr>
        <p:spPr>
          <a:xfrm>
            <a:off x="3157350" y="241575"/>
            <a:ext cx="2829300" cy="46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" name="Google Shape;36;p7"/>
          <p:cNvSpPr txBox="1"/>
          <p:nvPr/>
        </p:nvSpPr>
        <p:spPr>
          <a:xfrm>
            <a:off x="243676" y="534950"/>
            <a:ext cx="2868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endParaRPr b="1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Only">
  <p:cSld name="TITLE_AND_BODY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457200" y="233438"/>
            <a:ext cx="8229600" cy="467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Subtitle">
  <p:cSld name="TITLE_ONLY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11"/>
          <p:cNvSpPr txBox="1"/>
          <p:nvPr>
            <p:ph idx="1" type="subTitle"/>
          </p:nvPr>
        </p:nvSpPr>
        <p:spPr>
          <a:xfrm>
            <a:off x="685800" y="2179341"/>
            <a:ext cx="7772400" cy="7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"/>
              <a:buNone/>
              <a:defRPr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itle" type="secHead">
  <p:cSld name="SECTION_HEAD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ancy Section Title">
  <p:cSld name="CUSTOM">
    <p:bg>
      <p:bgPr>
        <a:solidFill>
          <a:srgbClr val="351C75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219700" y="2287400"/>
            <a:ext cx="6523800" cy="56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title"/>
          </p:nvPr>
        </p:nvSpPr>
        <p:spPr>
          <a:xfrm>
            <a:off x="219700" y="499975"/>
            <a:ext cx="6523800" cy="178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3" type="title"/>
          </p:nvPr>
        </p:nvSpPr>
        <p:spPr>
          <a:xfrm>
            <a:off x="219700" y="2856225"/>
            <a:ext cx="6523800" cy="17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deas">
  <p:cSld name="CUSTOM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537475" y="868313"/>
            <a:ext cx="80691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2" type="title"/>
          </p:nvPr>
        </p:nvSpPr>
        <p:spPr>
          <a:xfrm>
            <a:off x="537475" y="3055688"/>
            <a:ext cx="80691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deas">
  <p:cSld name="CUSTOM_1_2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537475" y="618338"/>
            <a:ext cx="80691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2" type="title"/>
          </p:nvPr>
        </p:nvSpPr>
        <p:spPr>
          <a:xfrm>
            <a:off x="537475" y="3349413"/>
            <a:ext cx="80691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" name="Google Shape;64;p15"/>
          <p:cNvSpPr txBox="1"/>
          <p:nvPr>
            <p:ph idx="3" type="title"/>
          </p:nvPr>
        </p:nvSpPr>
        <p:spPr>
          <a:xfrm>
            <a:off x="537475" y="1983875"/>
            <a:ext cx="80691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ral Idea">
  <p:cSld name="CUSTOM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537475" y="868313"/>
            <a:ext cx="80691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lendar">
  <p:cSld name="CUSTOM_3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17"/>
          <p:cNvCxnSpPr/>
          <p:nvPr/>
        </p:nvCxnSpPr>
        <p:spPr>
          <a:xfrm>
            <a:off x="3048000" y="0"/>
            <a:ext cx="0" cy="5142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0" name="Google Shape;70;p17"/>
          <p:cNvCxnSpPr/>
          <p:nvPr/>
        </p:nvCxnSpPr>
        <p:spPr>
          <a:xfrm>
            <a:off x="6096000" y="0"/>
            <a:ext cx="0" cy="5142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1" name="Google Shape;71;p17"/>
          <p:cNvCxnSpPr/>
          <p:nvPr/>
        </p:nvCxnSpPr>
        <p:spPr>
          <a:xfrm>
            <a:off x="0" y="1285875"/>
            <a:ext cx="914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2" name="Google Shape;72;p17"/>
          <p:cNvCxnSpPr/>
          <p:nvPr/>
        </p:nvCxnSpPr>
        <p:spPr>
          <a:xfrm>
            <a:off x="0" y="3857625"/>
            <a:ext cx="914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3" name="Google Shape;73;p17"/>
          <p:cNvCxnSpPr/>
          <p:nvPr/>
        </p:nvCxnSpPr>
        <p:spPr>
          <a:xfrm>
            <a:off x="0" y="2571750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4" name="Google Shape;74;p17"/>
          <p:cNvSpPr txBox="1"/>
          <p:nvPr/>
        </p:nvSpPr>
        <p:spPr>
          <a:xfrm>
            <a:off x="1751400" y="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January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5" name="Google Shape;75;p17"/>
          <p:cNvSpPr txBox="1"/>
          <p:nvPr/>
        </p:nvSpPr>
        <p:spPr>
          <a:xfrm>
            <a:off x="4799400" y="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February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6" name="Google Shape;76;p17"/>
          <p:cNvSpPr txBox="1"/>
          <p:nvPr/>
        </p:nvSpPr>
        <p:spPr>
          <a:xfrm>
            <a:off x="7849200" y="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March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7" name="Google Shape;77;p17"/>
          <p:cNvSpPr txBox="1"/>
          <p:nvPr/>
        </p:nvSpPr>
        <p:spPr>
          <a:xfrm>
            <a:off x="1751400" y="128587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April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4799400" y="128587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May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7849200" y="128587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June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1751400" y="257175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July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4799400" y="257175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August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7849200" y="257175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September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1751400" y="385762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October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4799400" y="385762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November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7849200" y="385762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December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●"/>
              <a:def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○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■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●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○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■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●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○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■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bughunters.google.com/about/rules/open-source/5097259337383936/oss-fuzz-reward-program-rules" TargetMode="External"/><Relationship Id="rId4" Type="http://schemas.openxmlformats.org/officeDocument/2006/relationships/hyperlink" Target="https://google.github.io/fuzzbench/getting-started/" TargetMode="External"/><Relationship Id="rId5" Type="http://schemas.openxmlformats.org/officeDocument/2006/relationships/hyperlink" Target="https://bughunters.google.com/report/oss_fuzz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google/oss-fuzz" TargetMode="External"/><Relationship Id="rId4" Type="http://schemas.openxmlformats.org/officeDocument/2006/relationships/hyperlink" Target="https://docs.github.com/en/get-started/exploring-projects-on-github/contributing-to-a-project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oogle.github.io/fuzzbench/getting-started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ossf/fuzz-introspector/blob/main/doc/CaseStudies.md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bughunters.google.com/report/oss_fuzz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ctrTitle"/>
          </p:nvPr>
        </p:nvSpPr>
        <p:spPr>
          <a:xfrm>
            <a:off x="685800" y="1141203"/>
            <a:ext cx="7772400" cy="16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Next Steps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Submission</a:t>
            </a:r>
            <a:endParaRPr/>
          </a:p>
        </p:txBody>
      </p:sp>
      <p:sp>
        <p:nvSpPr>
          <p:cNvPr id="91" name="Google Shape;91;p18"/>
          <p:cNvSpPr txBox="1"/>
          <p:nvPr>
            <p:ph idx="1" type="subTitle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Fuzz Dojo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Steven Wirsz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Arizona State University</a:t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OSS-Fuzz Rewards Program</a:t>
            </a:r>
            <a:endParaRPr i="1"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pays rewards for OSS-Fuzz improvements.  The program and requirements have changed several times, but are described here: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 u="sng">
                <a:solidFill>
                  <a:schemeClr val="hlink"/>
                </a:solidFill>
                <a:hlinkClick r:id="rId3"/>
              </a:rPr>
              <a:t>https://bughunters.google.com/about/rules/open-source/5097259337383936/oss-fuzz-reward-program-rules</a:t>
            </a:r>
            <a:r>
              <a:rPr lang="en" sz="1700"/>
              <a:t> </a:t>
            </a:r>
            <a:endParaRPr sz="1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will be looking at FuzzBench fuzzer integrations which rewards up to $11,337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fuzz driver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Verify coverage with all sanitizers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Integrate with </a:t>
            </a:r>
            <a:r>
              <a:rPr lang="en" u="sng">
                <a:solidFill>
                  <a:schemeClr val="hlink"/>
                </a:solidFill>
                <a:hlinkClick r:id="rId4"/>
              </a:rPr>
              <a:t>Fuzzbench</a:t>
            </a:r>
            <a:r>
              <a:rPr lang="en"/>
              <a:t>, install and locally run this evaluation platform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Send a </a:t>
            </a:r>
            <a:r>
              <a:rPr lang="en" u="sng">
                <a:solidFill>
                  <a:schemeClr val="hlink"/>
                </a:solidFill>
                <a:hlinkClick r:id="rId5"/>
              </a:rPr>
              <a:t>submission to Google</a:t>
            </a:r>
            <a:r>
              <a:rPr lang="en"/>
              <a:t> with: “Links to commits/PRs showing the integration, experiment reports, a paper describing the techniques used in the fuzzer.”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Fuzz driver cleanup</a:t>
            </a:r>
            <a:endParaRPr i="1"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Refactor your code! 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 everything to enhance its readability, maintainability, and simplicity.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Search for best practices if you need more examples.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a third-party review your code for readability.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 a license agreement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Test your code under all project-supported sanitizers - see project.yaml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Submit a PR</a:t>
            </a:r>
            <a:endParaRPr i="1"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457200" y="1200150"/>
            <a:ext cx="8229600" cy="38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should be either to the project repository or to the oss-fuzz repository, depending on where the existing fuzz drivers are currently located.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OSS-Fuzz repository: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https://github.com/google/oss-fuzz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More details for GitHub: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https://docs.github.com/en/get-started/exploring-projects-on-github/contributing-to-a-project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Integrate with Fuzzbench</a:t>
            </a:r>
            <a:endParaRPr i="1"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fuzz driver must be evaluated and benchmarked by FuzzBench.   This can be run locally and tested before you submitted to Google.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Details here: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https://google.github.io/fuzzbench/getting-started/</a:t>
            </a:r>
            <a:r>
              <a:rPr lang="en"/>
              <a:t> 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Short Paper</a:t>
            </a:r>
            <a:endParaRPr i="1"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See case studies: 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https://github.com/ossf/fuzz-introspector/blob/main/doc/CaseStudies.md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Submission</a:t>
            </a:r>
            <a:endParaRPr i="1"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457200" y="1155175"/>
            <a:ext cx="8229600" cy="39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this submission link: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https://bughunters.google.com/report/oss_fuzz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Required details: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Paper describing fuzzing techniques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Link to PR for FuzzBench integration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Link to experiment report (output from fuzz bench)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“Brief description of novel techniques used by your fuzzer”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ashvili 2019.12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