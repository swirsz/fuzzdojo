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  <p:embeddedFont>
      <p:font typeface="Roboto Light"/>
      <p:regular r:id="rId16"/>
      <p:bold r:id="rId17"/>
      <p:italic r:id="rId18"/>
      <p:boldItalic r:id="rId19"/>
    </p:embeddedFont>
    <p:embeddedFont>
      <p:font typeface="Oswald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Oswald-bold.fntdata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7" Type="http://schemas.openxmlformats.org/officeDocument/2006/relationships/font" Target="fonts/RobotoLight-bold.fntdata"/><Relationship Id="rId16" Type="http://schemas.openxmlformats.org/officeDocument/2006/relationships/font" Target="fonts/RobotoLigh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Light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Ligh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88f71ddc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88f71ddc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4ce90e77f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4ce90e77f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140243f3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7140243f3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140243f3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7140243f3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140243f3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7140243f3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7140243f3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7140243f3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243676" y="534950"/>
            <a:ext cx="2868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#</a:t>
            </a:r>
            <a:endParaRPr b="1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/>
        </p:nvSpPr>
        <p:spPr>
          <a:xfrm>
            <a:off x="243676" y="534950"/>
            <a:ext cx="2868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#</a:t>
            </a:r>
            <a:endParaRPr b="1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">
  <p:cSld name="TITLE_AND_TWO_COLUMNS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57200" y="241575"/>
            <a:ext cx="3994500" cy="46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692275" y="241575"/>
            <a:ext cx="3994500" cy="46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>
  <p:cSld name="TITLE_AND_TWO_COLUMNS_1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idx="1" type="body"/>
          </p:nvPr>
        </p:nvSpPr>
        <p:spPr>
          <a:xfrm>
            <a:off x="250875" y="241575"/>
            <a:ext cx="2829300" cy="46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2" type="body"/>
          </p:nvPr>
        </p:nvSpPr>
        <p:spPr>
          <a:xfrm>
            <a:off x="6063675" y="241575"/>
            <a:ext cx="2829300" cy="46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6"/>
          <p:cNvSpPr txBox="1"/>
          <p:nvPr>
            <p:ph idx="3" type="body"/>
          </p:nvPr>
        </p:nvSpPr>
        <p:spPr>
          <a:xfrm>
            <a:off x="3157350" y="241575"/>
            <a:ext cx="2829300" cy="46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" name="Google Shape;36;p7"/>
          <p:cNvSpPr txBox="1"/>
          <p:nvPr/>
        </p:nvSpPr>
        <p:spPr>
          <a:xfrm>
            <a:off x="243676" y="534950"/>
            <a:ext cx="2868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#</a:t>
            </a:r>
            <a:endParaRPr b="1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 algn="ctr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Only">
  <p:cSld name="TITLE_AND_BODY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457200" y="233438"/>
            <a:ext cx="8229600" cy="467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Subtitle">
  <p:cSld name="TITLE_ONLY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11"/>
          <p:cNvSpPr txBox="1"/>
          <p:nvPr>
            <p:ph idx="1" type="subTitle"/>
          </p:nvPr>
        </p:nvSpPr>
        <p:spPr>
          <a:xfrm>
            <a:off x="685800" y="2179341"/>
            <a:ext cx="7772400" cy="7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swald"/>
              <a:buNone/>
              <a:defRPr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itle" type="secHead">
  <p:cSld name="SECTION_HEAD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ancy Section Title">
  <p:cSld name="CUSTOM">
    <p:bg>
      <p:bgPr>
        <a:solidFill>
          <a:srgbClr val="351C75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219700" y="2287400"/>
            <a:ext cx="6523800" cy="56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title"/>
          </p:nvPr>
        </p:nvSpPr>
        <p:spPr>
          <a:xfrm>
            <a:off x="219700" y="499975"/>
            <a:ext cx="6523800" cy="178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3" type="title"/>
          </p:nvPr>
        </p:nvSpPr>
        <p:spPr>
          <a:xfrm>
            <a:off x="219700" y="2856225"/>
            <a:ext cx="6523800" cy="17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0" sz="2400">
                <a:solidFill>
                  <a:srgbClr val="B7B7B7"/>
                </a:solidFill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deas">
  <p:cSld name="CUSTOM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537475" y="868313"/>
            <a:ext cx="8069100" cy="13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2" type="title"/>
          </p:nvPr>
        </p:nvSpPr>
        <p:spPr>
          <a:xfrm>
            <a:off x="537475" y="3055688"/>
            <a:ext cx="8069100" cy="13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deas">
  <p:cSld name="CUSTOM_1_2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537475" y="618338"/>
            <a:ext cx="8069100" cy="13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2" type="title"/>
          </p:nvPr>
        </p:nvSpPr>
        <p:spPr>
          <a:xfrm>
            <a:off x="537475" y="3349413"/>
            <a:ext cx="8069100" cy="13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" name="Google Shape;64;p15"/>
          <p:cNvSpPr txBox="1"/>
          <p:nvPr>
            <p:ph idx="3" type="title"/>
          </p:nvPr>
        </p:nvSpPr>
        <p:spPr>
          <a:xfrm>
            <a:off x="537475" y="1983875"/>
            <a:ext cx="8069100" cy="13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ral Idea">
  <p:cSld name="CUSTOM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537475" y="868313"/>
            <a:ext cx="8069100" cy="13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0" sz="3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lendar">
  <p:cSld name="CUSTOM_3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p17"/>
          <p:cNvCxnSpPr/>
          <p:nvPr/>
        </p:nvCxnSpPr>
        <p:spPr>
          <a:xfrm>
            <a:off x="3048000" y="0"/>
            <a:ext cx="0" cy="5142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0" name="Google Shape;70;p17"/>
          <p:cNvCxnSpPr/>
          <p:nvPr/>
        </p:nvCxnSpPr>
        <p:spPr>
          <a:xfrm>
            <a:off x="6096000" y="0"/>
            <a:ext cx="0" cy="5142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1" name="Google Shape;71;p17"/>
          <p:cNvCxnSpPr/>
          <p:nvPr/>
        </p:nvCxnSpPr>
        <p:spPr>
          <a:xfrm>
            <a:off x="0" y="1285875"/>
            <a:ext cx="914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2" name="Google Shape;72;p17"/>
          <p:cNvCxnSpPr/>
          <p:nvPr/>
        </p:nvCxnSpPr>
        <p:spPr>
          <a:xfrm>
            <a:off x="0" y="3857625"/>
            <a:ext cx="914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3" name="Google Shape;73;p17"/>
          <p:cNvCxnSpPr/>
          <p:nvPr/>
        </p:nvCxnSpPr>
        <p:spPr>
          <a:xfrm>
            <a:off x="0" y="2571750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4" name="Google Shape;74;p17"/>
          <p:cNvSpPr txBox="1"/>
          <p:nvPr/>
        </p:nvSpPr>
        <p:spPr>
          <a:xfrm>
            <a:off x="1751400" y="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January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5" name="Google Shape;75;p17"/>
          <p:cNvSpPr txBox="1"/>
          <p:nvPr/>
        </p:nvSpPr>
        <p:spPr>
          <a:xfrm>
            <a:off x="4799400" y="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February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6" name="Google Shape;76;p17"/>
          <p:cNvSpPr txBox="1"/>
          <p:nvPr/>
        </p:nvSpPr>
        <p:spPr>
          <a:xfrm>
            <a:off x="7849200" y="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March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7" name="Google Shape;77;p17"/>
          <p:cNvSpPr txBox="1"/>
          <p:nvPr/>
        </p:nvSpPr>
        <p:spPr>
          <a:xfrm>
            <a:off x="1751400" y="128587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April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8" name="Google Shape;78;p17"/>
          <p:cNvSpPr txBox="1"/>
          <p:nvPr/>
        </p:nvSpPr>
        <p:spPr>
          <a:xfrm>
            <a:off x="4799400" y="128587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May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7849200" y="128587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June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1751400" y="257175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July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4799400" y="257175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August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7849200" y="257175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September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1751400" y="385762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October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4799400" y="385762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November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7849200" y="385762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December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●"/>
              <a:def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○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■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●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○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■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●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○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■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cJSON Case Study</a:t>
            </a:r>
            <a:endParaRPr/>
          </a:p>
        </p:txBody>
      </p:sp>
      <p:sp>
        <p:nvSpPr>
          <p:cNvPr id="91" name="Google Shape;91;p18"/>
          <p:cNvSpPr txBox="1"/>
          <p:nvPr>
            <p:ph idx="1" type="subTitle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Steven Wirsz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Arizona State University</a:t>
            </a: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Final Version</a:t>
            </a:r>
            <a:endParaRPr i="1">
              <a:solidFill>
                <a:schemeClr val="lt2"/>
              </a:solidFill>
            </a:endParaRPr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457200" y="1200150"/>
            <a:ext cx="8229600" cy="37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" sz="10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&lt;stdlib.h&gt;</a:t>
            </a:r>
            <a:endParaRPr sz="1000">
              <a:solidFill>
                <a:srgbClr val="E6DB74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" sz="10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&lt;stdint.h&gt;</a:t>
            </a:r>
            <a:endParaRPr sz="1000">
              <a:solidFill>
                <a:srgbClr val="E6DB74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" sz="10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&lt;string.h&gt;</a:t>
            </a:r>
            <a:endParaRPr sz="1000">
              <a:solidFill>
                <a:srgbClr val="E6DB74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" sz="10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&lt;vector&gt;</a:t>
            </a:r>
            <a:endParaRPr sz="1000">
              <a:solidFill>
                <a:srgbClr val="E6DB74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" sz="10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&lt;fuzzer/FuzzedDataProvider.h&gt;</a:t>
            </a:r>
            <a:endParaRPr sz="1000">
              <a:solidFill>
                <a:srgbClr val="E6DB74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#ifdef</a:t>
            </a:r>
            <a:r>
              <a:rPr lang="en" sz="1000">
                <a:solidFill>
                  <a:schemeClr val="lt1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__cplusplus</a:t>
            </a:r>
            <a:endParaRPr sz="1000">
              <a:solidFill>
                <a:schemeClr val="lt1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extern </a:t>
            </a:r>
            <a:r>
              <a:rPr lang="en" sz="10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"C"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#endif</a:t>
            </a:r>
            <a:endParaRPr sz="1000">
              <a:solidFill>
                <a:srgbClr val="F9267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" sz="10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"../cJSON.h"</a:t>
            </a:r>
            <a:endParaRPr sz="1000">
              <a:solidFill>
                <a:srgbClr val="E6DB74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6DB74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" sz="1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LLVMFuzzerTestOneInput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const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uint8_t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* </a:t>
            </a:r>
            <a:r>
              <a:rPr i="1" lang="en" sz="1000">
                <a:solidFill>
                  <a:srgbClr val="FD971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, size_t </a:t>
            </a:r>
            <a:r>
              <a:rPr i="1" lang="en" sz="1000">
                <a:solidFill>
                  <a:srgbClr val="FD971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FuzzedDataProvider fuzz(</a:t>
            </a:r>
            <a:r>
              <a:rPr i="1" lang="en" sz="1000">
                <a:solidFill>
                  <a:srgbClr val="FD971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i="1" lang="en" sz="1000">
                <a:solidFill>
                  <a:srgbClr val="FD971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std::string fuzzstr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fuzz.ConsumeRandomLengthString();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arr_size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50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std::vector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std::string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string_storage(arr_size);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std::vector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&lt;const char*&gt;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string_array</a:t>
            </a:r>
            <a:r>
              <a:rPr lang="en" sz="1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arr_size</a:t>
            </a:r>
            <a:r>
              <a:rPr lang="en" sz="1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std::vector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&lt;double&gt;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double_array</a:t>
            </a:r>
            <a:r>
              <a:rPr lang="en" sz="1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arr_size</a:t>
            </a:r>
            <a:r>
              <a:rPr lang="en" sz="1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std::vector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&lt;float&gt;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float_array</a:t>
            </a:r>
            <a:r>
              <a:rPr lang="en" sz="1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arr_size</a:t>
            </a:r>
            <a:r>
              <a:rPr lang="en" sz="1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std::vector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&lt;int&gt;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int_array</a:t>
            </a:r>
            <a:r>
              <a:rPr lang="en" sz="1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arr_size</a:t>
            </a:r>
            <a:r>
              <a:rPr lang="en" sz="1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F9267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880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457200" y="107025"/>
            <a:ext cx="8229600" cy="49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 i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arr_size; i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int_array</a:t>
            </a:r>
            <a:r>
              <a:rPr lang="en" sz="1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fuzz.ConsumeIntegral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&lt;int&gt;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float_array</a:t>
            </a:r>
            <a:r>
              <a:rPr lang="en" sz="1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fuzz.ConsumeFloatingPoint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&lt;float&gt;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double_array</a:t>
            </a:r>
            <a:r>
              <a:rPr lang="en" sz="1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fuzz.ConsumeFloatingPoint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&lt;double&gt;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string_storage[i]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fuzz.ConsumeRandomLengthString();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string_array</a:t>
            </a:r>
            <a:r>
              <a:rPr lang="en" sz="1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string_storage[i].c_str();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75715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// Create arrays</a:t>
            </a:r>
            <a:endParaRPr sz="1000">
              <a:solidFill>
                <a:srgbClr val="75715E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cJSON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doublearray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cJSON_CreateDoubleArray(double_array.</a:t>
            </a:r>
            <a:r>
              <a:rPr lang="en" sz="1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(), arr_size);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cJSON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floatarray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cJSON_CreateFloatArray(float_array.</a:t>
            </a:r>
            <a:r>
              <a:rPr lang="en" sz="1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(), arr_size);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cJSON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intarray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cJSON_CreateIntArray(int_array.</a:t>
            </a:r>
            <a:r>
              <a:rPr lang="en" sz="1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(), arr_size);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cJSON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stringarray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cJSON_CreateStringArray(string_array.</a:t>
            </a:r>
            <a:r>
              <a:rPr lang="en" sz="10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(), arr_size);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cJSON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a_json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cJSON_ParseWithOpts(fuzzstr.c_str(), NULL,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cJSON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b_json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cJSON_ParseWithOpts(fuzzstr.c_str(), NULL,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75715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// Create object for duplication test</a:t>
            </a:r>
            <a:endParaRPr sz="1000">
              <a:solidFill>
                <a:srgbClr val="75715E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cJSON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object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nullptr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(a_json) {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object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cJSON_Duplicate(a_json, fuzz.ConsumeBool());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9267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75715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// null checks</a:t>
            </a:r>
            <a:endParaRPr sz="1000">
              <a:solidFill>
                <a:srgbClr val="75715E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(a_json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&amp;&amp;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cJSON_IsObject(a_json)) {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std::string key1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fuzz.ConsumeRandomLengthString();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std::string key2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fuzz.ConsumeRandomLengthString();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std::string key3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fuzz.ConsumeRandomLengthString();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std::string key4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fuzz.ConsumeRandomLengthString();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std::string val1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fuzz.ConsumeRandomLengthString();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std::string val2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fuzz.ConsumeRandomLengthString();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880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457200" y="107025"/>
            <a:ext cx="8229600" cy="49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cJSON_AddNumberToObject(a_json, key1.c_str(), fuzz.ConsumeFloatingPoint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&lt;double&gt;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());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75715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// Create a separate object to avoid double-free</a:t>
            </a:r>
            <a:endParaRPr sz="1000">
              <a:solidFill>
                <a:srgbClr val="75715E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75715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(b_json) {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cJSON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b_copy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cJSON_Duplicate(b_json,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(b_copy) {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cJSON_AddItemToObject(a_json, key2.c_str(), b_copy);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cJSON_AddRawToObject(a_json, key3.c_str(), val1.c_str());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cJSON_AddStringToObject(a_json, key4.c_str(), val2.c_str());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cJSON_AddArrayToObject(a_json, fuzz.ConsumeRandomLengthString().c_str());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cJSON_AddObjectToObject(a_json, fuzz.ConsumeRandomLengthString().c_str());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cJSON_AddBoolToObject(a_json, fuzz.ConsumeRandomLengthString().c_str(), fuzz.ConsumeBool());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cJSON_AddFalseToObject(a_json, fuzz.ConsumeRandomLengthString().c_str());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cJSON_AddTrueToObject(a_json, fuzz.ConsumeRandomLengthString().c_str());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cJSON_AddNullToObject(a_json, fuzz.ConsumeRandomLengthString().c_str());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(a_json) {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cJSON_IsInvalid(a_json);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cJSON_IsFalse(a_json);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cJSON_IsTrue(a_json);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cJSON_IsBool(a_json);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cJSON_IsNull(a_json);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cJSON_IsNumber(a_json);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cJSON_IsString(a_json);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cJSON_IsArray(a_json);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cJSON_IsObject(a_json);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cJSON_IsRaw(a_json);</a:t>
            </a:r>
            <a:endParaRPr sz="1000">
              <a:solidFill>
                <a:srgbClr val="9E880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457200" y="107025"/>
            <a:ext cx="8229600" cy="49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std::string lookup_key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fuzz.ConsumeRandomLengthString();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cJSON_GetObjectItem(a_json, lookup_key.c_str());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std::string new_valuestring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fuzz.ConsumeRandomLengthString();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cJSON_SetValuestring(a_json, new_valuestring.c_str());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(a_json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&amp;&amp;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b_json) {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cJSON_Compare(a_json, b_json, fuzz.ConsumeBool());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75715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// Test all arrays</a:t>
            </a:r>
            <a:endParaRPr sz="1000">
              <a:solidFill>
                <a:srgbClr val="75715E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75715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cJSON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arrays[]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{doublearray, floatarray, intarray, stringarray};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 i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 </a:t>
            </a:r>
            <a:r>
              <a:rPr lang="en" sz="100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 i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(arrays[i]) {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array_size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cJSON_GetArraySize(arrays[i]);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(array_size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00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index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fuzz.ConsumeIntegralInRange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&lt;int&gt;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, array_size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lang="en" sz="100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cJSON_GetArrayItem(arrays[i], index);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}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75715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// Parse test (store result for cleanup)</a:t>
            </a:r>
            <a:endParaRPr sz="1000">
              <a:solidFill>
                <a:srgbClr val="75715E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75715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std::string parse_test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fuzz.ConsumeRandomLengthString();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parsed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cJSON_Parse(parse_test.c_str());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880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457200" y="107025"/>
            <a:ext cx="8229600" cy="49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75715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// cleanup</a:t>
            </a:r>
            <a:endParaRPr sz="1000">
              <a:solidFill>
                <a:srgbClr val="75715E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75715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cJSON_Delete(doublearray);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cJSON_Delete(floatarray);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cJSON_Delete(intarray);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cJSON_Delete(stringarray);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cJSON_Delete(a_json);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cJSON_Delete(b_json);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cJSON_Delete(object);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cJSON_Delete(parsed);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" sz="1000">
                <a:solidFill>
                  <a:srgbClr val="AE81FF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#ifdef </a:t>
            </a: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__cplusplus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#endif</a:t>
            </a:r>
            <a:endParaRPr sz="1000">
              <a:solidFill>
                <a:srgbClr val="F9267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9E880D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880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ashvili 2019.12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